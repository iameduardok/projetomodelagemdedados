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18.png"/><Relationship Id="rId7" Type="http://schemas.openxmlformats.org/officeDocument/2006/relationships/image" Target="../media/image12.png"/><Relationship Id="rId8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34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8E"/>
          </a:solidFill>
          <a:ln cap="flat" cmpd="sng" w="12700">
            <a:solidFill>
              <a:srgbClr val="1B7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1B7A8E">
              <a:alpha val="20000"/>
            </a:srgbClr>
          </a:solidFill>
          <a:ln cap="flat" cmpd="sng" w="12700">
            <a:solidFill>
              <a:srgbClr val="1B7A8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680960" y="-274320"/>
            <a:ext cx="1828800" cy="1828800"/>
          </a:xfrm>
          <a:prstGeom prst="ellipse">
            <a:avLst/>
          </a:prstGeom>
          <a:solidFill>
            <a:srgbClr val="2AA3BE">
              <a:alpha val="30196"/>
            </a:srgbClr>
          </a:solidFill>
          <a:ln cap="flat" cmpd="sng" w="12700">
            <a:solidFill>
              <a:srgbClr val="2AA3B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32004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114300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A3BE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2AA3BE"/>
                </a:solidFill>
                <a:latin typeface="Trebuchet MS"/>
                <a:ea typeface="Trebuchet MS"/>
                <a:cs typeface="Trebuchet MS"/>
                <a:sym typeface="Trebuchet MS"/>
              </a:rPr>
              <a:t>MedConnect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11480" y="1005840"/>
            <a:ext cx="83210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Modelagem de Dados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Unificada para Redes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Hospitalares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11480" y="3337560"/>
            <a:ext cx="2560320" cy="54864"/>
          </a:xfrm>
          <a:prstGeom prst="rect">
            <a:avLst/>
          </a:prstGeom>
          <a:solidFill>
            <a:srgbClr val="1B7A8E"/>
          </a:solidFill>
          <a:ln cap="flat" cmpd="sng" w="12700">
            <a:solidFill>
              <a:srgbClr val="1B7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411480" y="3520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FF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FF3"/>
                </a:solidFill>
                <a:latin typeface="Calibri"/>
                <a:ea typeface="Calibri"/>
                <a:cs typeface="Calibri"/>
                <a:sym typeface="Calibri"/>
              </a:rPr>
              <a:t>Trabalho de Modelagem de Banco de Dados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11480" y="38862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A3B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AA3BE"/>
                </a:solidFill>
                <a:latin typeface="Calibri"/>
                <a:ea typeface="Calibri"/>
                <a:cs typeface="Calibri"/>
                <a:sym typeface="Calibri"/>
              </a:rPr>
              <a:t>José Eduardo de Souza Pereira  |  RA: 220100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11480" y="4206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UNASP – Centro Universitário Adventista de São Paulo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B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Sobre a Empresa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9144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/>
          <p:nvPr/>
        </p:nvSpPr>
        <p:spPr>
          <a:xfrm>
            <a:off x="1005840" y="91440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MedConnect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005840" y="13716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8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7A8E"/>
                </a:solidFill>
                <a:latin typeface="Calibri"/>
                <a:ea typeface="Calibri"/>
                <a:cs typeface="Calibri"/>
                <a:sym typeface="Calibri"/>
              </a:rPr>
              <a:t>Rede de Hospitais e Clínicas Privadas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65760" y="1828800"/>
            <a:ext cx="8412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A MedConnect é uma rede hospitalar privada que integra múltiplas unidades de saúde</a:t>
            </a:r>
            <a:r>
              <a:rPr lang="en-US" sz="1300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3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hospitais e clínicas</a:t>
            </a:r>
            <a:r>
              <a:rPr lang="en-US" sz="1300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en-US" sz="13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 sob uma mesma estrutura operacional. A empresa atende milhares de pacientes mensalmente, com equipes multidisciplinares, infraestrutura de farmácia, laboratório e faturamento distribuídos entre suas unidades.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65760" y="3246120"/>
            <a:ext cx="192024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65760" y="3246120"/>
            <a:ext cx="1920240" cy="64008"/>
          </a:xfrm>
          <a:prstGeom prst="rect">
            <a:avLst/>
          </a:prstGeom>
          <a:solidFill>
            <a:srgbClr val="1B7A8E"/>
          </a:solidFill>
          <a:ln cap="flat" cmpd="sng" w="12700">
            <a:solidFill>
              <a:srgbClr val="1B7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65760" y="333756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20+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65760" y="393192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Unidades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2395728" y="3246120"/>
            <a:ext cx="192024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2395728" y="3246120"/>
            <a:ext cx="1920240" cy="64008"/>
          </a:xfrm>
          <a:prstGeom prst="rect">
            <a:avLst/>
          </a:prstGeom>
          <a:solidFill>
            <a:srgbClr val="1B7A8E"/>
          </a:solidFill>
          <a:ln cap="flat" cmpd="sng" w="12700">
            <a:solidFill>
              <a:srgbClr val="1B7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2395728" y="333756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500+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395728" y="393192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Médicos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425696" y="3246120"/>
            <a:ext cx="192024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4425696" y="3246120"/>
            <a:ext cx="1920240" cy="64008"/>
          </a:xfrm>
          <a:prstGeom prst="rect">
            <a:avLst/>
          </a:prstGeom>
          <a:solidFill>
            <a:srgbClr val="1B7A8E"/>
          </a:solidFill>
          <a:ln cap="flat" cmpd="sng" w="12700">
            <a:solidFill>
              <a:srgbClr val="1B7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4425696" y="333756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10k+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425696" y="393192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Pacientes/mês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455664" y="3246120"/>
            <a:ext cx="192024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455664" y="3246120"/>
            <a:ext cx="1920240" cy="64008"/>
          </a:xfrm>
          <a:prstGeom prst="rect">
            <a:avLst/>
          </a:prstGeom>
          <a:solidFill>
            <a:srgbClr val="1B7A8E"/>
          </a:solidFill>
          <a:ln cap="flat" cmpd="sng" w="12700">
            <a:solidFill>
              <a:srgbClr val="1B7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455664" y="333756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455664" y="393192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Estados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B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Missão, Visão e Valores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20040" y="960120"/>
            <a:ext cx="2651760" cy="388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320040" y="960120"/>
            <a:ext cx="2651760" cy="73152"/>
          </a:xfrm>
          <a:prstGeom prst="rect">
            <a:avLst/>
          </a:prstGeom>
          <a:solidFill>
            <a:srgbClr val="1B7A8E"/>
          </a:solidFill>
          <a:ln cap="flat" cmpd="sng" w="12700">
            <a:solidFill>
              <a:srgbClr val="1B7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1280160" y="1143000"/>
            <a:ext cx="731520" cy="731520"/>
          </a:xfrm>
          <a:prstGeom prst="ellipse">
            <a:avLst/>
          </a:prstGeom>
          <a:solidFill>
            <a:srgbClr val="1B7A8E">
              <a:alpha val="14901"/>
            </a:srgbClr>
          </a:solidFill>
          <a:ln cap="flat" cmpd="sng" w="12700">
            <a:solidFill>
              <a:srgbClr val="1B7A8E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126187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411480" y="201168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Missão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84632" y="2606040"/>
            <a:ext cx="2322576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Oferecer cuidado de saúde integrado, seguro e humanizado, conectando dados clínicos e operacionais para garantir o melhor atendimento ao paciente em todas as nossas unidades.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200400" y="960120"/>
            <a:ext cx="2651760" cy="388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3200400" y="960120"/>
            <a:ext cx="2651760" cy="73152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160520" y="1143000"/>
            <a:ext cx="731520" cy="731520"/>
          </a:xfrm>
          <a:prstGeom prst="ellipse">
            <a:avLst/>
          </a:prstGeom>
          <a:solidFill>
            <a:srgbClr val="0A2342">
              <a:alpha val="14901"/>
            </a:srgbClr>
          </a:solidFill>
          <a:ln cap="flat" cmpd="sng" w="12700">
            <a:solidFill>
              <a:srgbClr val="0A2342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7680" y="126187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/>
          <p:nvPr/>
        </p:nvSpPr>
        <p:spPr>
          <a:xfrm>
            <a:off x="3291840" y="201168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Visão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364992" y="2606040"/>
            <a:ext cx="2322576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Ser a rede hospitalar privada mais conectada e eficiente do Brasil até 2030, referência nacional em gestão inteligente de dados de saúde.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080760" y="960120"/>
            <a:ext cx="2651760" cy="388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6080760" y="960120"/>
            <a:ext cx="2651760" cy="73152"/>
          </a:xfrm>
          <a:prstGeom prst="rect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7040880" y="1143000"/>
            <a:ext cx="731520" cy="731520"/>
          </a:xfrm>
          <a:prstGeom prst="ellipse">
            <a:avLst/>
          </a:prstGeom>
          <a:solidFill>
            <a:srgbClr val="F39C12">
              <a:alpha val="14901"/>
            </a:srgbClr>
          </a:solidFill>
          <a:ln cap="flat" cmpd="sng" w="12700">
            <a:solidFill>
              <a:srgbClr val="F39C12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8040" y="126187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6172200" y="201168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Valores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245352" y="2606040"/>
            <a:ext cx="2322576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Humanização · Segurança · Inovação · Integridade · Excelência · Trabalho em equipe · Responsabilidade com o paciente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B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 Problema: Fragmentação de Dados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365760" y="9601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8E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B7A8E"/>
                </a:solidFill>
                <a:latin typeface="Trebuchet MS"/>
                <a:ea typeface="Trebuchet MS"/>
                <a:cs typeface="Trebuchet MS"/>
                <a:sym typeface="Trebuchet MS"/>
              </a:rPr>
              <a:t>Cenário Atual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365760" y="1371600"/>
            <a:ext cx="39319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b="0" i="0" lang="en-US" sz="13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Sistemas legados independentes por unidade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b="0" i="0" lang="en-US" sz="13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Cadastros duplicados de pacientes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b="0" i="0" lang="en-US" sz="13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Históricos médicos em papel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b="0" i="0" lang="en-US" sz="13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Agendamentos sem integração com farmácia e estoque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C0392B"/>
                </a:solidFill>
                <a:latin typeface="Trebuchet MS"/>
                <a:ea typeface="Trebuchet MS"/>
                <a:cs typeface="Trebuchet MS"/>
                <a:sym typeface="Trebuchet MS"/>
              </a:rPr>
              <a:t>Consequências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846320" y="1371600"/>
            <a:ext cx="3931920" cy="50292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FFCC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4983480" y="14173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⏱  Demora no atendimento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846320" y="2011680"/>
            <a:ext cx="3931920" cy="50292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FFCC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983480" y="205740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💊  Erros de medicação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846320" y="2651760"/>
            <a:ext cx="3931920" cy="50292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FFCC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4983480" y="26974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🛏  Perda de receita por leitos ociosos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846320" y="3291840"/>
            <a:ext cx="3931920" cy="50292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FFCC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4983480" y="33375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📊  Relatórios gerenciais não confiáveis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365760" y="3657600"/>
            <a:ext cx="8412480" cy="7772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502920" y="3657600"/>
            <a:ext cx="8138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Resultado: incapacidade de tomar decisões clínicas e gerenciais com base em dados confiáveis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B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 Solução: Modelo de Dados Unificado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Um modelo relacional com 20 tabelas cobrindo todas as áreas críticas da rede hospitalar.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20040" y="1417320"/>
            <a:ext cx="265176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320040" y="1417320"/>
            <a:ext cx="64008" cy="1325880"/>
          </a:xfrm>
          <a:prstGeom prst="rect">
            <a:avLst/>
          </a:prstGeom>
          <a:solidFill>
            <a:srgbClr val="1B7A8E"/>
          </a:solidFill>
          <a:ln cap="flat" cmpd="sng" w="12700">
            <a:solidFill>
              <a:srgbClr val="1B7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6916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/>
          <p:nvPr/>
        </p:nvSpPr>
        <p:spPr>
          <a:xfrm>
            <a:off x="1033272" y="1581912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Pacientes </a:t>
            </a:r>
            <a:r>
              <a:rPr b="1" lang="en-US" sz="1300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&amp; </a:t>
            </a:r>
            <a:r>
              <a:rPr b="1" i="0" lang="en-US" sz="13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Equipe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033272" y="1947672"/>
            <a:ext cx="18470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Cadastro unificado de pacientes e profissionais de saúde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200400" y="1417320"/>
            <a:ext cx="265176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3200400" y="1417320"/>
            <a:ext cx="64008" cy="132588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0" y="16916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7"/>
          <p:cNvSpPr/>
          <p:nvPr/>
        </p:nvSpPr>
        <p:spPr>
          <a:xfrm>
            <a:off x="3913632" y="1581912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Internações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3913632" y="1947672"/>
            <a:ext cx="18470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Controle de leitos, admissões e altas hospitalares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080760" y="1417320"/>
            <a:ext cx="265176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6080760" y="1417320"/>
            <a:ext cx="64008" cy="1325880"/>
          </a:xfrm>
          <a:prstGeom prst="rect">
            <a:avLst/>
          </a:prstGeom>
          <a:solidFill>
            <a:srgbClr val="1A8A5A"/>
          </a:solidFill>
          <a:ln cap="flat" cmpd="sng" w="12700">
            <a:solidFill>
              <a:srgbClr val="1A8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3640" y="16916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7"/>
          <p:cNvSpPr/>
          <p:nvPr/>
        </p:nvSpPr>
        <p:spPr>
          <a:xfrm>
            <a:off x="6793992" y="1581912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Prontuários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793992" y="1947672"/>
            <a:ext cx="18470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Histórico médico eletrônico e registros de consultas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320040" y="2926080"/>
            <a:ext cx="265176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320040" y="2926080"/>
            <a:ext cx="64008" cy="1325880"/>
          </a:xfrm>
          <a:prstGeom prst="rect">
            <a:avLst/>
          </a:prstGeom>
          <a:solidFill>
            <a:srgbClr val="D68910"/>
          </a:solidFill>
          <a:ln cap="flat" cmpd="sng" w="12700">
            <a:solidFill>
              <a:srgbClr val="D689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" y="32004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/>
          <p:nvPr/>
        </p:nvSpPr>
        <p:spPr>
          <a:xfrm>
            <a:off x="1033272" y="3090672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Farmácia &amp; Estoque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033272" y="3456432"/>
            <a:ext cx="18470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Prescrições, dispensação e controle de medicamentos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3200400" y="2926080"/>
            <a:ext cx="265176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3200400" y="2926080"/>
            <a:ext cx="64008" cy="1325880"/>
          </a:xfrm>
          <a:prstGeom prst="rect">
            <a:avLst/>
          </a:prstGeom>
          <a:solidFill>
            <a:srgbClr val="922B21"/>
          </a:solidFill>
          <a:ln cap="flat" cmpd="sng" w="12700">
            <a:solidFill>
              <a:srgbClr val="922B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83280" y="32004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/>
          <p:nvPr/>
        </p:nvSpPr>
        <p:spPr>
          <a:xfrm>
            <a:off x="3913632" y="3090672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Faturamento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3913632" y="3456432"/>
            <a:ext cx="18470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Cobranças, convênios e controle financeiro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080760" y="2926080"/>
            <a:ext cx="265176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6080760" y="2926080"/>
            <a:ext cx="64008" cy="132588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63640" y="32004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/>
          <p:nvPr/>
        </p:nvSpPr>
        <p:spPr>
          <a:xfrm>
            <a:off x="6793992" y="3090672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Exames &amp; Infra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793992" y="3456432"/>
            <a:ext cx="18470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Resultados laboratoriais e infraestrutura hospitalar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B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Diagrama Entidade-Relacionamento (DER)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457200" y="914400"/>
            <a:ext cx="8229600" cy="3886200"/>
          </a:xfrm>
          <a:prstGeom prst="rect">
            <a:avLst/>
          </a:prstGeom>
          <a:solidFill>
            <a:srgbClr val="F0F7FF"/>
          </a:solidFill>
          <a:ln cap="flat" cmpd="sng" w="25400">
            <a:solidFill>
              <a:srgbClr val="2AA3BE"/>
            </a:solidFill>
            <a:prstDash val="dash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15544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A3BE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2AA3BE"/>
                </a:solidFill>
                <a:latin typeface="Calibri"/>
                <a:ea typeface="Calibri"/>
                <a:cs typeface="Calibri"/>
                <a:sym typeface="Calibri"/>
              </a:rPr>
              <a:t>[ Insira aqui o diagrama exportado do draw.io 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57200" y="315468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DER completo com as 20 tabelas relacionais da MedConnect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8" title="MedMedico_DIAGRAMA.drawio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50" y="871215"/>
            <a:ext cx="8451277" cy="3990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B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Estrutura das 20 Tabelas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256032" y="914400"/>
            <a:ext cx="169164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256032" y="914400"/>
            <a:ext cx="1691640" cy="438912"/>
          </a:xfrm>
          <a:prstGeom prst="rect">
            <a:avLst/>
          </a:prstGeom>
          <a:solidFill>
            <a:srgbClr val="1B7A8E"/>
          </a:solidFill>
          <a:ln cap="flat" cmpd="sng" w="12700">
            <a:solidFill>
              <a:srgbClr val="1B7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301752" y="914400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Pacientes &amp; Profissionais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347472" y="1417320"/>
            <a:ext cx="15087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100"/>
              <a:buFont typeface="Calibri"/>
              <a:buChar char="■"/>
            </a:pPr>
            <a:r>
              <a:rPr b="0" i="0" lang="en-US" sz="11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paciente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100"/>
              <a:buFont typeface="Calibri"/>
              <a:buChar char="■"/>
            </a:pPr>
            <a:r>
              <a:rPr b="0" i="0" lang="en-US" sz="11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profissional_saude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100"/>
              <a:buFont typeface="Calibri"/>
              <a:buChar char="■"/>
            </a:pPr>
            <a:r>
              <a:rPr b="0" i="0" lang="en-US" sz="11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especialidade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100"/>
              <a:buFont typeface="Calibri"/>
              <a:buChar char="■"/>
            </a:pPr>
            <a:r>
              <a:rPr b="0" i="0" lang="en-US" sz="11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usuario_sistema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2057400" y="914400"/>
            <a:ext cx="169164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2057400" y="914400"/>
            <a:ext cx="1691640" cy="438912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2103120" y="914400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Atendimento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2148840" y="1417320"/>
            <a:ext cx="15087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100"/>
              <a:buFont typeface="Calibri"/>
              <a:buChar char="■"/>
            </a:pPr>
            <a:r>
              <a:rPr b="0" i="0" lang="en-US" sz="11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internacao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100"/>
              <a:buFont typeface="Calibri"/>
              <a:buChar char="■"/>
            </a:pPr>
            <a:r>
              <a:rPr b="0" i="0" lang="en-US" sz="11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leito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100"/>
              <a:buFont typeface="Calibri"/>
              <a:buChar char="■"/>
            </a:pPr>
            <a:r>
              <a:rPr b="0" i="0" lang="en-US" sz="11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consulta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100"/>
              <a:buFont typeface="Calibri"/>
              <a:buChar char="■"/>
            </a:pPr>
            <a:r>
              <a:rPr b="0" i="0" lang="en-US" sz="11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prontuario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3858768" y="914400"/>
            <a:ext cx="169164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3858768" y="914400"/>
            <a:ext cx="1691640" cy="438912"/>
          </a:xfrm>
          <a:prstGeom prst="rect">
            <a:avLst/>
          </a:prstGeom>
          <a:solidFill>
            <a:srgbClr val="1A8A5A"/>
          </a:solidFill>
          <a:ln cap="flat" cmpd="sng" w="12700">
            <a:solidFill>
              <a:srgbClr val="1A8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3904488" y="914400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Farmácia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3950208" y="1417320"/>
            <a:ext cx="15087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100"/>
              <a:buFont typeface="Calibri"/>
              <a:buChar char="■"/>
            </a:pPr>
            <a:r>
              <a:rPr b="0" i="0" lang="en-US" sz="11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medicamento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100"/>
              <a:buFont typeface="Calibri"/>
              <a:buChar char="■"/>
            </a:pPr>
            <a:r>
              <a:rPr b="0" i="0" lang="en-US" sz="11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prescricao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100"/>
              <a:buFont typeface="Calibri"/>
              <a:buChar char="■"/>
            </a:pPr>
            <a:r>
              <a:rPr b="0" i="0" lang="en-US" sz="11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estoque_farmacia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100"/>
              <a:buFont typeface="Calibri"/>
              <a:buChar char="■"/>
            </a:pPr>
            <a:r>
              <a:rPr b="0" i="0" lang="en-US" sz="11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dispensacao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5660136" y="914400"/>
            <a:ext cx="169164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5660136" y="914400"/>
            <a:ext cx="1691640" cy="438912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5705856" y="914400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Exames &amp; Infra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5751576" y="1417320"/>
            <a:ext cx="15087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100"/>
              <a:buFont typeface="Calibri"/>
              <a:buChar char="■"/>
            </a:pPr>
            <a:r>
              <a:rPr b="0" i="0" lang="en-US" sz="11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exame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100"/>
              <a:buFont typeface="Calibri"/>
              <a:buChar char="■"/>
            </a:pPr>
            <a:r>
              <a:rPr b="0" i="0" lang="en-US" sz="11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resultado_exame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100"/>
              <a:buFont typeface="Calibri"/>
              <a:buChar char="■"/>
            </a:pPr>
            <a:r>
              <a:rPr b="0" i="0" lang="en-US" sz="11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equipamento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100"/>
              <a:buFont typeface="Calibri"/>
              <a:buChar char="■"/>
            </a:pPr>
            <a:r>
              <a:rPr b="0" i="0" lang="en-US" sz="11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unidade_hospitalar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7461504" y="914400"/>
            <a:ext cx="169164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7461504" y="914400"/>
            <a:ext cx="1691640" cy="438912"/>
          </a:xfrm>
          <a:prstGeom prst="rect">
            <a:avLst/>
          </a:prstGeom>
          <a:solidFill>
            <a:srgbClr val="922B21"/>
          </a:solidFill>
          <a:ln cap="flat" cmpd="sng" w="12700">
            <a:solidFill>
              <a:srgbClr val="922B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7507224" y="914400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Faturamento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7552944" y="1417320"/>
            <a:ext cx="15087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100"/>
              <a:buFont typeface="Calibri"/>
              <a:buChar char="■"/>
            </a:pPr>
            <a:r>
              <a:rPr b="0" i="0" lang="en-US" sz="11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fatura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100"/>
              <a:buFont typeface="Calibri"/>
              <a:buChar char="■"/>
            </a:pPr>
            <a:r>
              <a:rPr b="0" i="0" lang="en-US" sz="11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convenio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100"/>
              <a:buFont typeface="Calibri"/>
              <a:buChar char="■"/>
            </a:pPr>
            <a:r>
              <a:rPr b="0" i="0" lang="en-US" sz="11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item_fatura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100"/>
              <a:buFont typeface="Calibri"/>
              <a:buChar char="■"/>
            </a:pPr>
            <a:r>
              <a:rPr b="0" i="0" lang="en-US" sz="1100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pagamento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365760" y="425196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Total: 20 tabelas relacionais cobrindo toda a operação da MedConnect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B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Modelo Físico – Banco de Dados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365760" y="914400"/>
            <a:ext cx="4023360" cy="3931920"/>
          </a:xfrm>
          <a:prstGeom prst="rect">
            <a:avLst/>
          </a:prstGeom>
          <a:solidFill>
            <a:srgbClr val="F8FFF8"/>
          </a:solidFill>
          <a:ln cap="flat" cmpd="sng" w="25400">
            <a:solidFill>
              <a:srgbClr val="1A8A5A"/>
            </a:solidFill>
            <a:prstDash val="dash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" name="Google Shape;1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3120" y="146304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8A5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A8A5A"/>
                </a:solidFill>
                <a:latin typeface="Calibri"/>
                <a:ea typeface="Calibri"/>
                <a:cs typeface="Calibri"/>
                <a:sym typeface="Calibri"/>
              </a:rPr>
              <a:t>[ Insira aqui print do banco de dados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8A5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A8A5A"/>
                </a:solidFill>
                <a:latin typeface="Calibri"/>
                <a:ea typeface="Calibri"/>
                <a:cs typeface="Calibri"/>
                <a:sym typeface="Calibri"/>
              </a:rPr>
              <a:t>ou script DDL/SQL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457200" y="30175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Script CREATE TABLE com PKs, FKs e constraints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754880" y="96012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Decisões de Projeto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4754880" y="1417320"/>
            <a:ext cx="402336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4892040" y="1417320"/>
            <a:ext cx="3749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✔  Chaves primárias sintéticas (auto-increment)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4754880" y="2011680"/>
            <a:ext cx="402336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4892040" y="2011680"/>
            <a:ext cx="3749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✔  Normalização até 3ª Forma Normal (3FN)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754880" y="2606040"/>
            <a:ext cx="402336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4892040" y="2606040"/>
            <a:ext cx="3749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✔  Integridade referencial via FKs com CASCADE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4754880" y="3200400"/>
            <a:ext cx="402336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4892040" y="3200400"/>
            <a:ext cx="3749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✔  Campos de auditoria: created_at, updated_at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4754880" y="3794760"/>
            <a:ext cx="402336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4892040" y="3794760"/>
            <a:ext cx="3749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✔  Índices em colunas de alta frequência de busca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10" title="Captura de tela 2026-06-03 20420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50" y="914400"/>
            <a:ext cx="4023374" cy="3931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B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Benefícios Esperados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320040" y="914400"/>
            <a:ext cx="406908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320040" y="914400"/>
            <a:ext cx="64008" cy="1600200"/>
          </a:xfrm>
          <a:prstGeom prst="rect">
            <a:avLst/>
          </a:prstGeom>
          <a:solidFill>
            <a:srgbClr val="1A8A5A"/>
          </a:solidFill>
          <a:ln cap="flat" cmpd="sng" w="12700">
            <a:solidFill>
              <a:srgbClr val="1A8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8" name="Google Shape;2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1887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1"/>
          <p:cNvSpPr/>
          <p:nvPr/>
        </p:nvSpPr>
        <p:spPr>
          <a:xfrm>
            <a:off x="1051560" y="107899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Eliminação de Dados Duplicados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1051560" y="1481328"/>
            <a:ext cx="3246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Cadastro único de paciente acessível em todas as unidades, reduzindo retrabalho e inconsistências.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4709160" y="914400"/>
            <a:ext cx="406908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4709160" y="914400"/>
            <a:ext cx="64008" cy="1600200"/>
          </a:xfrm>
          <a:prstGeom prst="rect">
            <a:avLst/>
          </a:prstGeom>
          <a:solidFill>
            <a:srgbClr val="1B7A8E"/>
          </a:solidFill>
          <a:ln cap="flat" cmpd="sng" w="12700">
            <a:solidFill>
              <a:srgbClr val="1B7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040" y="11887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1"/>
          <p:cNvSpPr/>
          <p:nvPr/>
        </p:nvSpPr>
        <p:spPr>
          <a:xfrm>
            <a:off x="5440680" y="107899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Agilidade no Atendimento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5440680" y="1481328"/>
            <a:ext cx="3246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Prontuário eletrônico integrado reduz tempo de busca de histórico e acelera decisões clínicas.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320040" y="2743200"/>
            <a:ext cx="406908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320040" y="2743200"/>
            <a:ext cx="64008" cy="1600200"/>
          </a:xfrm>
          <a:prstGeom prst="rect">
            <a:avLst/>
          </a:prstGeom>
          <a:solidFill>
            <a:srgbClr val="D68910"/>
          </a:solidFill>
          <a:ln cap="flat" cmpd="sng" w="12700">
            <a:solidFill>
              <a:srgbClr val="D689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8" name="Google Shape;21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30175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1"/>
          <p:cNvSpPr/>
          <p:nvPr/>
        </p:nvSpPr>
        <p:spPr>
          <a:xfrm>
            <a:off x="1051560" y="290779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Segurança na Medicação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1051560" y="3310128"/>
            <a:ext cx="3246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Integração entre prescrição, farmácia e estoque elimina falhas no controle de medicamentos.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4709160" y="2743200"/>
            <a:ext cx="406908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F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4709160" y="2743200"/>
            <a:ext cx="64008" cy="160020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2040" y="30175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1"/>
          <p:cNvSpPr/>
          <p:nvPr/>
        </p:nvSpPr>
        <p:spPr>
          <a:xfrm>
            <a:off x="5440680" y="290779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Relatórios Gerenciais Confiáveis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5440680" y="3310128"/>
            <a:ext cx="3246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Dados consolidados permitem análise de ocupação, receita e desempenho em tempo real.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342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1B7A8E">
              <a:alpha val="18039"/>
            </a:srgbClr>
          </a:solidFill>
          <a:ln cap="flat" cmpd="sng" w="12700">
            <a:solidFill>
              <a:srgbClr val="1B7A8E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2AA3BE">
              <a:alpha val="20000"/>
            </a:srgbClr>
          </a:solidFill>
          <a:ln cap="flat" cmpd="sng" w="12700">
            <a:solidFill>
              <a:srgbClr val="2AA3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8E"/>
          </a:solidFill>
          <a:ln cap="flat" cmpd="sng" w="12700">
            <a:solidFill>
              <a:srgbClr val="1B7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411480" y="457200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Considerações Finais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411480" y="1097280"/>
            <a:ext cx="2743200" cy="54864"/>
          </a:xfrm>
          <a:prstGeom prst="rect">
            <a:avLst/>
          </a:prstGeom>
          <a:solidFill>
            <a:srgbClr val="1B7A8E"/>
          </a:solidFill>
          <a:ln cap="flat" cmpd="sng" w="12700">
            <a:solidFill>
              <a:srgbClr val="1B7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411480" y="1325880"/>
            <a:ext cx="83210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A3B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A3BE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modelo de dados unificado resolve os principais gargalos operacionais da MedConnect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AA3B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A3BE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 20 tabelas relacionais cobrem todas as áreas críticas: clínica, farmácia, faturamento e infraestrutura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AA3B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A3BE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solução habilita decisões baseadas em dados confiáveis e em tempo real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AA3B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A3BE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arquitetura é escalável para novas unidades hospitalares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411480" y="438912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José Eduardo de Souza Pereira  |  RA: 220100  |  UNASP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